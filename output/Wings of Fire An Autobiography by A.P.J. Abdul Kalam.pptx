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9753600" cy="7315200"/>
  <p:notesSz cx="6858000" cy="9144000"/>
  <p:embeddedFontLst>
    <p:embeddedFont>
      <p:font typeface="Agrandir Bold" charset="1" panose="00000800000000000000"/>
      <p:regular r:id="rId28"/>
    </p:embeddedFont>
    <p:embeddedFont>
      <p:font typeface="Poppins" charset="1" panose="00000500000000000000"/>
      <p:regular r:id="rId29"/>
    </p:embeddedFont>
    <p:embeddedFont>
      <p:font typeface="Poppins Bold" charset="1" panose="000008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43390" y="2381861"/>
            <a:ext cx="6866820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Wings of Fire: An Autobiography by A.P.J. Abdul Kalam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1573072">
            <a:off x="-412371" y="2783522"/>
            <a:ext cx="1632829" cy="1748155"/>
          </a:xfrm>
          <a:custGeom>
            <a:avLst/>
            <a:gdLst/>
            <a:ahLst/>
            <a:cxnLst/>
            <a:rect r="r" b="b" t="t" l="l"/>
            <a:pathLst>
              <a:path h="1748155" w="1632829">
                <a:moveTo>
                  <a:pt x="1632830" y="0"/>
                </a:moveTo>
                <a:lnTo>
                  <a:pt x="0" y="0"/>
                </a:lnTo>
                <a:lnTo>
                  <a:pt x="0" y="1748156"/>
                </a:lnTo>
                <a:lnTo>
                  <a:pt x="1632830" y="1748156"/>
                </a:lnTo>
                <a:lnTo>
                  <a:pt x="16328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345649">
            <a:off x="8600982" y="2783522"/>
            <a:ext cx="1632829" cy="1748155"/>
          </a:xfrm>
          <a:custGeom>
            <a:avLst/>
            <a:gdLst/>
            <a:ahLst/>
            <a:cxnLst/>
            <a:rect r="r" b="b" t="t" l="l"/>
            <a:pathLst>
              <a:path h="1748155" w="1632829">
                <a:moveTo>
                  <a:pt x="0" y="0"/>
                </a:moveTo>
                <a:lnTo>
                  <a:pt x="1632829" y="0"/>
                </a:lnTo>
                <a:lnTo>
                  <a:pt x="1632829" y="1748156"/>
                </a:lnTo>
                <a:lnTo>
                  <a:pt x="0" y="1748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476266">
            <a:off x="7938303" y="1340510"/>
            <a:ext cx="319758" cy="590158"/>
          </a:xfrm>
          <a:custGeom>
            <a:avLst/>
            <a:gdLst/>
            <a:ahLst/>
            <a:cxnLst/>
            <a:rect r="r" b="b" t="t" l="l"/>
            <a:pathLst>
              <a:path h="590158" w="319758">
                <a:moveTo>
                  <a:pt x="0" y="0"/>
                </a:moveTo>
                <a:lnTo>
                  <a:pt x="319758" y="0"/>
                </a:lnTo>
                <a:lnTo>
                  <a:pt x="319758" y="590158"/>
                </a:lnTo>
                <a:lnTo>
                  <a:pt x="0" y="590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476266">
            <a:off x="1488117" y="5849492"/>
            <a:ext cx="319758" cy="590158"/>
          </a:xfrm>
          <a:custGeom>
            <a:avLst/>
            <a:gdLst/>
            <a:ahLst/>
            <a:cxnLst/>
            <a:rect r="r" b="b" t="t" l="l"/>
            <a:pathLst>
              <a:path h="590158" w="319758">
                <a:moveTo>
                  <a:pt x="0" y="0"/>
                </a:moveTo>
                <a:lnTo>
                  <a:pt x="319758" y="0"/>
                </a:lnTo>
                <a:lnTo>
                  <a:pt x="319758" y="590158"/>
                </a:lnTo>
                <a:lnTo>
                  <a:pt x="0" y="590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885625" y="-558971"/>
            <a:ext cx="2408246" cy="2427040"/>
            <a:chOff x="0" y="0"/>
            <a:chExt cx="806506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95484" y="5526948"/>
            <a:ext cx="2408246" cy="2427040"/>
            <a:chOff x="0" y="0"/>
            <a:chExt cx="806506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8477" y="196840"/>
            <a:ext cx="5942628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1"/>
              </a:lnSpc>
            </a:pPr>
            <a:r>
              <a:rPr lang="en-US" sz="53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Who is A.P.J Abdul Kalam?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036728" y="1424265"/>
            <a:ext cx="331187" cy="331187"/>
          </a:xfrm>
          <a:custGeom>
            <a:avLst/>
            <a:gdLst/>
            <a:ahLst/>
            <a:cxnLst/>
            <a:rect r="r" b="b" t="t" l="l"/>
            <a:pathLst>
              <a:path h="331187" w="331187">
                <a:moveTo>
                  <a:pt x="0" y="0"/>
                </a:moveTo>
                <a:lnTo>
                  <a:pt x="331187" y="0"/>
                </a:lnTo>
                <a:lnTo>
                  <a:pt x="331187" y="331186"/>
                </a:lnTo>
                <a:lnTo>
                  <a:pt x="0" y="331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9330" y="2281199"/>
            <a:ext cx="7254939" cy="447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2540" indent="-256270" lvl="1">
              <a:lnSpc>
                <a:spcPts val="3323"/>
              </a:lnSpc>
              <a:buFont typeface="Arial"/>
              <a:buChar char="•"/>
            </a:pPr>
            <a:r>
              <a:rPr lang="en-US" sz="237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 inspiring autobiography of Dr. A. P. J.  Abdul Kalam, known as the Missile Man of  India.</a:t>
            </a:r>
          </a:p>
          <a:p>
            <a:pPr algn="l" marL="512540" indent="-256270" lvl="1">
              <a:lnSpc>
                <a:spcPts val="3323"/>
              </a:lnSpc>
              <a:buFont typeface="Arial"/>
              <a:buChar char="•"/>
            </a:pPr>
            <a:r>
              <a:rPr lang="en-US" sz="237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Chronicles his journey from a humble  background to a renowned scientist and the  11th President of India.</a:t>
            </a:r>
          </a:p>
          <a:p>
            <a:pPr algn="l" marL="512540" indent="-256270" lvl="1">
              <a:lnSpc>
                <a:spcPts val="3323"/>
              </a:lnSpc>
              <a:buFont typeface="Arial"/>
              <a:buChar char="•"/>
            </a:pPr>
            <a:r>
              <a:rPr lang="en-US" sz="237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Highlights his determination, hard work, and  contributions to India's space and missile program</a:t>
            </a:r>
          </a:p>
          <a:p>
            <a:pPr algn="just">
              <a:lnSpc>
                <a:spcPts val="2763"/>
              </a:lnSpc>
            </a:pPr>
          </a:p>
          <a:p>
            <a:pPr algn="just">
              <a:lnSpc>
                <a:spcPts val="2763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-1676726" y="1424265"/>
            <a:ext cx="2408246" cy="2427040"/>
            <a:chOff x="0" y="0"/>
            <a:chExt cx="8065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21253" y="4016425"/>
            <a:ext cx="2408246" cy="2427040"/>
            <a:chOff x="0" y="0"/>
            <a:chExt cx="80650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5414" y="1037408"/>
            <a:ext cx="594262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1"/>
              </a:lnSpc>
            </a:pPr>
            <a:r>
              <a:rPr lang="en-US" sz="53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CHAPTER ONE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036728" y="1424265"/>
            <a:ext cx="331187" cy="331187"/>
          </a:xfrm>
          <a:custGeom>
            <a:avLst/>
            <a:gdLst/>
            <a:ahLst/>
            <a:cxnLst/>
            <a:rect r="r" b="b" t="t" l="l"/>
            <a:pathLst>
              <a:path h="331187" w="331187">
                <a:moveTo>
                  <a:pt x="0" y="0"/>
                </a:moveTo>
                <a:lnTo>
                  <a:pt x="331187" y="0"/>
                </a:lnTo>
                <a:lnTo>
                  <a:pt x="331187" y="331186"/>
                </a:lnTo>
                <a:lnTo>
                  <a:pt x="0" y="331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9164" y="2100649"/>
            <a:ext cx="8512089" cy="3728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5"/>
              </a:lnSpc>
            </a:pPr>
            <a:r>
              <a:rPr lang="en-US" sz="234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Fam</a:t>
            </a:r>
            <a:r>
              <a:rPr lang="en-US" sz="234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ily Background</a:t>
            </a:r>
          </a:p>
          <a:p>
            <a:pPr algn="l" marL="506624" indent="-253312" lvl="1">
              <a:lnSpc>
                <a:spcPts val="3285"/>
              </a:lnSpc>
              <a:buFont typeface="Arial"/>
              <a:buChar char="•"/>
            </a:pPr>
            <a:r>
              <a:rPr lang="en-US" sz="23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Dr. Avul Pakir Jainulabdeen Abdul Kalam.</a:t>
            </a:r>
          </a:p>
          <a:p>
            <a:pPr algn="l" marL="506624" indent="-253312" lvl="1">
              <a:lnSpc>
                <a:spcPts val="3285"/>
              </a:lnSpc>
              <a:buFont typeface="Arial"/>
              <a:buChar char="•"/>
            </a:pPr>
            <a:r>
              <a:rPr lang="en-US" sz="23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Born into a middle-class Tamil Muslim family in Rameswaram, Tamil Nadu.</a:t>
            </a:r>
          </a:p>
          <a:p>
            <a:pPr algn="l" marL="506624" indent="-253312" lvl="1">
              <a:lnSpc>
                <a:spcPts val="3285"/>
              </a:lnSpc>
              <a:buFont typeface="Arial"/>
              <a:buChar char="•"/>
            </a:pPr>
            <a:r>
              <a:rPr lang="en-US" sz="23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Father- Jainulabdeen, known for spiritual wisdom and generosity.</a:t>
            </a:r>
          </a:p>
          <a:p>
            <a:pPr algn="l" marL="506624" indent="-253312" lvl="1">
              <a:lnSpc>
                <a:spcPts val="3285"/>
              </a:lnSpc>
              <a:buFont typeface="Arial"/>
              <a:buChar char="•"/>
            </a:pPr>
            <a:r>
              <a:rPr lang="en-US" sz="23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Mother- Ashiamma, known for hospitality.</a:t>
            </a:r>
          </a:p>
          <a:p>
            <a:pPr algn="l" marL="506624" indent="-253312" lvl="1">
              <a:lnSpc>
                <a:spcPts val="3285"/>
              </a:lnSpc>
              <a:buFont typeface="Arial"/>
              <a:buChar char="•"/>
            </a:pPr>
            <a:r>
              <a:rPr lang="en-US" sz="23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 secure childhood with all necessities met despite a simple lifestyle.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676726" y="1424265"/>
            <a:ext cx="2408246" cy="2427040"/>
            <a:chOff x="0" y="0"/>
            <a:chExt cx="8065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21253" y="4016425"/>
            <a:ext cx="2408246" cy="2427040"/>
            <a:chOff x="0" y="0"/>
            <a:chExt cx="80650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751581">
            <a:off x="6397556" y="422006"/>
            <a:ext cx="3272660" cy="3004897"/>
          </a:xfrm>
          <a:custGeom>
            <a:avLst/>
            <a:gdLst/>
            <a:ahLst/>
            <a:cxnLst/>
            <a:rect r="r" b="b" t="t" l="l"/>
            <a:pathLst>
              <a:path h="3004897" w="3272660">
                <a:moveTo>
                  <a:pt x="0" y="0"/>
                </a:moveTo>
                <a:lnTo>
                  <a:pt x="3272660" y="0"/>
                </a:lnTo>
                <a:lnTo>
                  <a:pt x="3272660" y="3004897"/>
                </a:lnTo>
                <a:lnTo>
                  <a:pt x="0" y="3004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8721004" y="3254428"/>
            <a:ext cx="467591" cy="594480"/>
          </a:xfrm>
          <a:custGeom>
            <a:avLst/>
            <a:gdLst/>
            <a:ahLst/>
            <a:cxnLst/>
            <a:rect r="r" b="b" t="t" l="l"/>
            <a:pathLst>
              <a:path h="594480" w="467591">
                <a:moveTo>
                  <a:pt x="467591" y="594480"/>
                </a:moveTo>
                <a:lnTo>
                  <a:pt x="0" y="594480"/>
                </a:lnTo>
                <a:lnTo>
                  <a:pt x="0" y="0"/>
                </a:lnTo>
                <a:lnTo>
                  <a:pt x="467591" y="0"/>
                </a:lnTo>
                <a:lnTo>
                  <a:pt x="467591" y="59448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4791394">
            <a:off x="4566637" y="2667509"/>
            <a:ext cx="467591" cy="594480"/>
          </a:xfrm>
          <a:custGeom>
            <a:avLst/>
            <a:gdLst/>
            <a:ahLst/>
            <a:cxnLst/>
            <a:rect r="r" b="b" t="t" l="l"/>
            <a:pathLst>
              <a:path h="594480" w="467591">
                <a:moveTo>
                  <a:pt x="467591" y="594480"/>
                </a:moveTo>
                <a:lnTo>
                  <a:pt x="0" y="594480"/>
                </a:lnTo>
                <a:lnTo>
                  <a:pt x="0" y="0"/>
                </a:lnTo>
                <a:lnTo>
                  <a:pt x="467591" y="0"/>
                </a:lnTo>
                <a:lnTo>
                  <a:pt x="467591" y="59448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247468" y="5796382"/>
            <a:ext cx="2408246" cy="2427040"/>
            <a:chOff x="0" y="0"/>
            <a:chExt cx="8065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23810" y="-1388038"/>
            <a:ext cx="2408246" cy="2427040"/>
            <a:chOff x="0" y="0"/>
            <a:chExt cx="80650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31520" y="688292"/>
            <a:ext cx="7918154" cy="5938615"/>
          </a:xfrm>
          <a:custGeom>
            <a:avLst/>
            <a:gdLst/>
            <a:ahLst/>
            <a:cxnLst/>
            <a:rect r="r" b="b" t="t" l="l"/>
            <a:pathLst>
              <a:path h="5938615" w="7918154">
                <a:moveTo>
                  <a:pt x="0" y="0"/>
                </a:moveTo>
                <a:lnTo>
                  <a:pt x="7918154" y="0"/>
                </a:lnTo>
                <a:lnTo>
                  <a:pt x="7918154" y="5938616"/>
                </a:lnTo>
                <a:lnTo>
                  <a:pt x="0" y="59386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5414" y="1037408"/>
            <a:ext cx="594262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1"/>
              </a:lnSpc>
            </a:pPr>
            <a:r>
              <a:rPr lang="en-US" sz="53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CHAPTER ONE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036728" y="1424265"/>
            <a:ext cx="331187" cy="331187"/>
          </a:xfrm>
          <a:custGeom>
            <a:avLst/>
            <a:gdLst/>
            <a:ahLst/>
            <a:cxnLst/>
            <a:rect r="r" b="b" t="t" l="l"/>
            <a:pathLst>
              <a:path h="331187" w="331187">
                <a:moveTo>
                  <a:pt x="0" y="0"/>
                </a:moveTo>
                <a:lnTo>
                  <a:pt x="331187" y="0"/>
                </a:lnTo>
                <a:lnTo>
                  <a:pt x="331187" y="331186"/>
                </a:lnTo>
                <a:lnTo>
                  <a:pt x="0" y="331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4195" y="2285561"/>
            <a:ext cx="8665210" cy="3395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37" indent="-257868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Rameswaram was a p</a:t>
            </a: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lace of religious harmony.</a:t>
            </a:r>
          </a:p>
          <a:p>
            <a:pPr algn="l" marL="515737" indent="-257868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Dr. Kalam experienced religious harmony and respect for all faiths from an early age.</a:t>
            </a:r>
          </a:p>
          <a:p>
            <a:pPr algn="l" marL="515737" indent="-257868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Father’s teachings emphasized prayer, unity of religions, and facing adversity.</a:t>
            </a:r>
          </a:p>
          <a:p>
            <a:pPr algn="l" marL="515737" indent="-257868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Dr. Kalam admired his father's ability to explain profound spiritual concepts simply.</a:t>
            </a:r>
          </a:p>
          <a:p>
            <a:pPr algn="l">
              <a:lnSpc>
                <a:spcPts val="3344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-1676726" y="1424265"/>
            <a:ext cx="2408246" cy="2427040"/>
            <a:chOff x="0" y="0"/>
            <a:chExt cx="8065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21253" y="4016425"/>
            <a:ext cx="2408246" cy="2427040"/>
            <a:chOff x="0" y="0"/>
            <a:chExt cx="80650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5414" y="1037408"/>
            <a:ext cx="594262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1"/>
              </a:lnSpc>
            </a:pPr>
            <a:r>
              <a:rPr lang="en-US" sz="53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CHAPTER ONE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036728" y="1424265"/>
            <a:ext cx="331187" cy="331187"/>
          </a:xfrm>
          <a:custGeom>
            <a:avLst/>
            <a:gdLst/>
            <a:ahLst/>
            <a:cxnLst/>
            <a:rect r="r" b="b" t="t" l="l"/>
            <a:pathLst>
              <a:path h="331187" w="331187">
                <a:moveTo>
                  <a:pt x="0" y="0"/>
                </a:moveTo>
                <a:lnTo>
                  <a:pt x="331187" y="0"/>
                </a:lnTo>
                <a:lnTo>
                  <a:pt x="331187" y="331186"/>
                </a:lnTo>
                <a:lnTo>
                  <a:pt x="0" y="331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4195" y="2285561"/>
            <a:ext cx="8665210" cy="381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37" indent="-257868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Dr. Kalam's father, Jainulabdeen, was a c</a:t>
            </a: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lose friend of Pakshi Lakshmana Sastry, the high priest of the Rameswaram temple.</a:t>
            </a:r>
          </a:p>
          <a:p>
            <a:pPr algn="l" marL="515737" indent="-257868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Dr. Kalam and his three childhood friends Ramanadha Sastry, Aravindan, and</a:t>
            </a:r>
          </a:p>
          <a:p>
            <a:pPr algn="l" marL="515737" indent="-257868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Sivaprakasan--orthodox Hindu Brahmin</a:t>
            </a:r>
          </a:p>
          <a:p>
            <a:pPr algn="l" marL="515737" indent="-257868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families.</a:t>
            </a:r>
          </a:p>
          <a:p>
            <a:pPr algn="l" marL="515737" indent="-257868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Despite religious differences, they shared a</a:t>
            </a:r>
          </a:p>
          <a:p>
            <a:pPr algn="l">
              <a:lnSpc>
                <a:spcPts val="3344"/>
              </a:lnSpc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strong and unbreakable bond.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676726" y="1424265"/>
            <a:ext cx="2408246" cy="2427040"/>
            <a:chOff x="0" y="0"/>
            <a:chExt cx="8065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21253" y="4016425"/>
            <a:ext cx="2408246" cy="2427040"/>
            <a:chOff x="0" y="0"/>
            <a:chExt cx="80650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5414" y="1037408"/>
            <a:ext cx="594262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1"/>
              </a:lnSpc>
            </a:pPr>
            <a:r>
              <a:rPr lang="en-US" sz="53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CHAPTER ONE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036728" y="1424265"/>
            <a:ext cx="331187" cy="331187"/>
          </a:xfrm>
          <a:custGeom>
            <a:avLst/>
            <a:gdLst/>
            <a:ahLst/>
            <a:cxnLst/>
            <a:rect r="r" b="b" t="t" l="l"/>
            <a:pathLst>
              <a:path h="331187" w="331187">
                <a:moveTo>
                  <a:pt x="0" y="0"/>
                </a:moveTo>
                <a:lnTo>
                  <a:pt x="331187" y="0"/>
                </a:lnTo>
                <a:lnTo>
                  <a:pt x="331187" y="331186"/>
                </a:lnTo>
                <a:lnTo>
                  <a:pt x="0" y="331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4195" y="2285561"/>
            <a:ext cx="8665210" cy="37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Dr. Kalam --- when he was six years o</a:t>
            </a: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ld, his father undertook an important project—the construction of a wooden sailboat.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sailboat was built to transport pilgrims from Rameswaram to Dhanuskodi.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Cyclone with winds exceeding 100 miles per hour swept away their sailboat.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cyclone severely damaged the area, causing the Pamban Bridge to collapse.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676726" y="1424265"/>
            <a:ext cx="2408246" cy="2427040"/>
            <a:chOff x="0" y="0"/>
            <a:chExt cx="8065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21253" y="4016425"/>
            <a:ext cx="2408246" cy="2427040"/>
            <a:chOff x="0" y="0"/>
            <a:chExt cx="80650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32720" y="-321443"/>
            <a:ext cx="5118179" cy="5002121"/>
            <a:chOff x="0" y="0"/>
            <a:chExt cx="852505" cy="8331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2505" cy="833174"/>
            </a:xfrm>
            <a:custGeom>
              <a:avLst/>
              <a:gdLst/>
              <a:ahLst/>
              <a:cxnLst/>
              <a:rect r="r" b="b" t="t" l="l"/>
              <a:pathLst>
                <a:path h="833174" w="852505">
                  <a:moveTo>
                    <a:pt x="426253" y="0"/>
                  </a:moveTo>
                  <a:cubicBezTo>
                    <a:pt x="190840" y="0"/>
                    <a:pt x="0" y="186512"/>
                    <a:pt x="0" y="416587"/>
                  </a:cubicBezTo>
                  <a:cubicBezTo>
                    <a:pt x="0" y="646662"/>
                    <a:pt x="190840" y="833174"/>
                    <a:pt x="426253" y="833174"/>
                  </a:cubicBezTo>
                  <a:cubicBezTo>
                    <a:pt x="661666" y="833174"/>
                    <a:pt x="852505" y="646662"/>
                    <a:pt x="852505" y="416587"/>
                  </a:cubicBezTo>
                  <a:cubicBezTo>
                    <a:pt x="852505" y="186512"/>
                    <a:pt x="661666" y="0"/>
                    <a:pt x="426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9922" y="30485"/>
              <a:ext cx="692661" cy="724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10660658">
            <a:off x="4795026" y="5305436"/>
            <a:ext cx="3392285" cy="2664486"/>
          </a:xfrm>
          <a:custGeom>
            <a:avLst/>
            <a:gdLst/>
            <a:ahLst/>
            <a:cxnLst/>
            <a:rect r="r" b="b" t="t" l="l"/>
            <a:pathLst>
              <a:path h="2664486" w="3392285">
                <a:moveTo>
                  <a:pt x="3392284" y="2664486"/>
                </a:moveTo>
                <a:lnTo>
                  <a:pt x="0" y="2664486"/>
                </a:lnTo>
                <a:lnTo>
                  <a:pt x="0" y="0"/>
                </a:lnTo>
                <a:lnTo>
                  <a:pt x="3392284" y="0"/>
                </a:lnTo>
                <a:lnTo>
                  <a:pt x="3392284" y="2664486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476266">
            <a:off x="8200894" y="5175201"/>
            <a:ext cx="319758" cy="590158"/>
          </a:xfrm>
          <a:custGeom>
            <a:avLst/>
            <a:gdLst/>
            <a:ahLst/>
            <a:cxnLst/>
            <a:rect r="r" b="b" t="t" l="l"/>
            <a:pathLst>
              <a:path h="590158" w="319758">
                <a:moveTo>
                  <a:pt x="0" y="0"/>
                </a:moveTo>
                <a:lnTo>
                  <a:pt x="319758" y="0"/>
                </a:lnTo>
                <a:lnTo>
                  <a:pt x="319758" y="590158"/>
                </a:lnTo>
                <a:lnTo>
                  <a:pt x="0" y="590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52883" y="731520"/>
            <a:ext cx="8244715" cy="6183536"/>
          </a:xfrm>
          <a:custGeom>
            <a:avLst/>
            <a:gdLst/>
            <a:ahLst/>
            <a:cxnLst/>
            <a:rect r="r" b="b" t="t" l="l"/>
            <a:pathLst>
              <a:path h="6183536" w="8244715">
                <a:moveTo>
                  <a:pt x="0" y="0"/>
                </a:moveTo>
                <a:lnTo>
                  <a:pt x="8244715" y="0"/>
                </a:lnTo>
                <a:lnTo>
                  <a:pt x="8244715" y="6183536"/>
                </a:lnTo>
                <a:lnTo>
                  <a:pt x="0" y="61835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5414" y="1037408"/>
            <a:ext cx="594262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1"/>
              </a:lnSpc>
            </a:pPr>
            <a:r>
              <a:rPr lang="en-US" sz="53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CHAPTER ONE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036728" y="1424265"/>
            <a:ext cx="331187" cy="331187"/>
          </a:xfrm>
          <a:custGeom>
            <a:avLst/>
            <a:gdLst/>
            <a:ahLst/>
            <a:cxnLst/>
            <a:rect r="r" b="b" t="t" l="l"/>
            <a:pathLst>
              <a:path h="331187" w="331187">
                <a:moveTo>
                  <a:pt x="0" y="0"/>
                </a:moveTo>
                <a:lnTo>
                  <a:pt x="331187" y="0"/>
                </a:lnTo>
                <a:lnTo>
                  <a:pt x="331187" y="331186"/>
                </a:lnTo>
                <a:lnTo>
                  <a:pt x="0" y="331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1520" y="2722787"/>
            <a:ext cx="8665210" cy="252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Ahmed Jallaluddin was about 15 years o</a:t>
            </a: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lder than Dr. Kalam.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He affectionately called him Azad.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Dr. Kalam admired Jallaluddin’s wisdom and humility, which greatly influenced him.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Jallaluddin later married Dr. Kalam's sister, Zohara.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676726" y="1424265"/>
            <a:ext cx="2408246" cy="2427040"/>
            <a:chOff x="0" y="0"/>
            <a:chExt cx="8065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21253" y="4016425"/>
            <a:ext cx="2408246" cy="2427040"/>
            <a:chOff x="0" y="0"/>
            <a:chExt cx="80650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5414" y="1037408"/>
            <a:ext cx="594262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1"/>
              </a:lnSpc>
            </a:pPr>
            <a:r>
              <a:rPr lang="en-US" sz="53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CHAPTER ONE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036728" y="1424265"/>
            <a:ext cx="331187" cy="331187"/>
          </a:xfrm>
          <a:custGeom>
            <a:avLst/>
            <a:gdLst/>
            <a:ahLst/>
            <a:cxnLst/>
            <a:rect r="r" b="b" t="t" l="l"/>
            <a:pathLst>
              <a:path h="331187" w="331187">
                <a:moveTo>
                  <a:pt x="0" y="0"/>
                </a:moveTo>
                <a:lnTo>
                  <a:pt x="331187" y="0"/>
                </a:lnTo>
                <a:lnTo>
                  <a:pt x="331187" y="331186"/>
                </a:lnTo>
                <a:lnTo>
                  <a:pt x="0" y="331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6043" y="2411499"/>
            <a:ext cx="8665210" cy="37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4"/>
              </a:lnSpc>
            </a:pP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Dr. Kalam also recalls the impact of his first cousin, Samsuddin, who was the sole distributor of newspapers i</a:t>
            </a: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Rameswaram.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Samsuddin collected newspapers from the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Rameswaram station, which arrived from Pamban.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He then distributed them to the literate population.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Dinamani was the most sought-after newspaper in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their locality.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676726" y="1424265"/>
            <a:ext cx="2408246" cy="2427040"/>
            <a:chOff x="0" y="0"/>
            <a:chExt cx="8065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21253" y="4016425"/>
            <a:ext cx="2408246" cy="2427040"/>
            <a:chOff x="0" y="0"/>
            <a:chExt cx="80650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5414" y="1037408"/>
            <a:ext cx="594262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1"/>
              </a:lnSpc>
            </a:pPr>
            <a:r>
              <a:rPr lang="en-US" sz="53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CHAPTER ONE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036728" y="1424265"/>
            <a:ext cx="331187" cy="331187"/>
          </a:xfrm>
          <a:custGeom>
            <a:avLst/>
            <a:gdLst/>
            <a:ahLst/>
            <a:cxnLst/>
            <a:rect r="r" b="b" t="t" l="l"/>
            <a:pathLst>
              <a:path h="331187" w="331187">
                <a:moveTo>
                  <a:pt x="0" y="0"/>
                </a:moveTo>
                <a:lnTo>
                  <a:pt x="331187" y="0"/>
                </a:lnTo>
                <a:lnTo>
                  <a:pt x="331187" y="331186"/>
                </a:lnTo>
                <a:lnTo>
                  <a:pt x="0" y="331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4195" y="1923233"/>
            <a:ext cx="8665210" cy="503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World War II (1939): Dr. Kalam was 8 years old when the war began.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Tamarind Seed Business: He collected and sold tamarind seeds, earning one anna per day.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Impact o</a:t>
            </a: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Rameswaram: Although not directly affected, India’s involvement caused an emergency.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Newspaper Delivery: Trains did not stop at Rameswaram;  Kalam helped his cousin Samsuddin catch newspapers thrown from moving trains.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First Earnings and Pride: He earned his first wages through this task, which made him very proud even years later.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676726" y="1424265"/>
            <a:ext cx="2408246" cy="2427040"/>
            <a:chOff x="0" y="0"/>
            <a:chExt cx="8065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21253" y="4016425"/>
            <a:ext cx="2408246" cy="2427040"/>
            <a:chOff x="0" y="0"/>
            <a:chExt cx="80650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76726" y="3657600"/>
            <a:ext cx="2408246" cy="2427040"/>
            <a:chOff x="0" y="0"/>
            <a:chExt cx="80650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74019" y="2549592"/>
            <a:ext cx="2408246" cy="2427040"/>
            <a:chOff x="0" y="0"/>
            <a:chExt cx="8065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898887" y="3326413"/>
            <a:ext cx="331187" cy="331187"/>
          </a:xfrm>
          <a:custGeom>
            <a:avLst/>
            <a:gdLst/>
            <a:ahLst/>
            <a:cxnLst/>
            <a:rect r="r" b="b" t="t" l="l"/>
            <a:pathLst>
              <a:path h="331187" w="331187">
                <a:moveTo>
                  <a:pt x="0" y="0"/>
                </a:moveTo>
                <a:lnTo>
                  <a:pt x="331186" y="0"/>
                </a:lnTo>
                <a:lnTo>
                  <a:pt x="331186" y="331187"/>
                </a:lnTo>
                <a:lnTo>
                  <a:pt x="0" y="3311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54000" y="5753453"/>
            <a:ext cx="331187" cy="331187"/>
          </a:xfrm>
          <a:custGeom>
            <a:avLst/>
            <a:gdLst/>
            <a:ahLst/>
            <a:cxnLst/>
            <a:rect r="r" b="b" t="t" l="l"/>
            <a:pathLst>
              <a:path h="331187" w="331187">
                <a:moveTo>
                  <a:pt x="0" y="0"/>
                </a:moveTo>
                <a:lnTo>
                  <a:pt x="331186" y="0"/>
                </a:lnTo>
                <a:lnTo>
                  <a:pt x="331186" y="331187"/>
                </a:lnTo>
                <a:lnTo>
                  <a:pt x="0" y="3311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4323" y="293844"/>
            <a:ext cx="8817486" cy="6613114"/>
          </a:xfrm>
          <a:custGeom>
            <a:avLst/>
            <a:gdLst/>
            <a:ahLst/>
            <a:cxnLst/>
            <a:rect r="r" b="b" t="t" l="l"/>
            <a:pathLst>
              <a:path h="6613114" w="8817486">
                <a:moveTo>
                  <a:pt x="0" y="0"/>
                </a:moveTo>
                <a:lnTo>
                  <a:pt x="8817486" y="0"/>
                </a:lnTo>
                <a:lnTo>
                  <a:pt x="8817486" y="6613114"/>
                </a:lnTo>
                <a:lnTo>
                  <a:pt x="0" y="6613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5414" y="1037408"/>
            <a:ext cx="594262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1"/>
              </a:lnSpc>
            </a:pPr>
            <a:r>
              <a:rPr lang="en-US" sz="53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CHAPTER ONE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036728" y="1424265"/>
            <a:ext cx="331187" cy="331187"/>
          </a:xfrm>
          <a:custGeom>
            <a:avLst/>
            <a:gdLst/>
            <a:ahLst/>
            <a:cxnLst/>
            <a:rect r="r" b="b" t="t" l="l"/>
            <a:pathLst>
              <a:path h="331187" w="331187">
                <a:moveTo>
                  <a:pt x="0" y="0"/>
                </a:moveTo>
                <a:lnTo>
                  <a:pt x="331187" y="0"/>
                </a:lnTo>
                <a:lnTo>
                  <a:pt x="331187" y="331186"/>
                </a:lnTo>
                <a:lnTo>
                  <a:pt x="0" y="331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4195" y="2246465"/>
            <a:ext cx="8665210" cy="41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 Manickam's personal library provided Dr. Kalam with access to books that were otherwise unavailable in his local community.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books in the library, influenced by Manickam's background as a revolutionary natio</a:t>
            </a: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nalist, exposed Kalam to ideas of patriotism, courage, and selfless service to the nation.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Reading diverse books expanded Dr. Kalam's understanding of science, history, and leadership, Shaping his aspirations and worldview.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676726" y="1424265"/>
            <a:ext cx="2408246" cy="2427040"/>
            <a:chOff x="0" y="0"/>
            <a:chExt cx="8065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21253" y="4016425"/>
            <a:ext cx="2408246" cy="2427040"/>
            <a:chOff x="0" y="0"/>
            <a:chExt cx="80650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5414" y="1037408"/>
            <a:ext cx="594262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1"/>
              </a:lnSpc>
            </a:pPr>
            <a:r>
              <a:rPr lang="en-US" sz="53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CHAPTER ONE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036728" y="1424265"/>
            <a:ext cx="331187" cy="331187"/>
          </a:xfrm>
          <a:custGeom>
            <a:avLst/>
            <a:gdLst/>
            <a:ahLst/>
            <a:cxnLst/>
            <a:rect r="r" b="b" t="t" l="l"/>
            <a:pathLst>
              <a:path h="331187" w="331187">
                <a:moveTo>
                  <a:pt x="0" y="0"/>
                </a:moveTo>
                <a:lnTo>
                  <a:pt x="331187" y="0"/>
                </a:lnTo>
                <a:lnTo>
                  <a:pt x="331187" y="331186"/>
                </a:lnTo>
                <a:lnTo>
                  <a:pt x="0" y="331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4195" y="2246465"/>
            <a:ext cx="8665210" cy="252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Experiences of Discrimination: Faced social discrimination at school due to religion.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Resolved by Ramanadha Sastry’</a:t>
            </a: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father condemning the act.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Science teacher, Sivasubramania Iyer, defied norms by inviting Kalam home.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676726" y="1424265"/>
            <a:ext cx="2408246" cy="2427040"/>
            <a:chOff x="0" y="0"/>
            <a:chExt cx="8065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21253" y="4016425"/>
            <a:ext cx="2408246" cy="2427040"/>
            <a:chOff x="0" y="0"/>
            <a:chExt cx="80650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5414" y="1037408"/>
            <a:ext cx="594262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1"/>
              </a:lnSpc>
            </a:pPr>
            <a:r>
              <a:rPr lang="en-US" sz="53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CHAPTER ONE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036728" y="1424265"/>
            <a:ext cx="331187" cy="331187"/>
          </a:xfrm>
          <a:custGeom>
            <a:avLst/>
            <a:gdLst/>
            <a:ahLst/>
            <a:cxnLst/>
            <a:rect r="r" b="b" t="t" l="l"/>
            <a:pathLst>
              <a:path h="331187" w="331187">
                <a:moveTo>
                  <a:pt x="0" y="0"/>
                </a:moveTo>
                <a:lnTo>
                  <a:pt x="331187" y="0"/>
                </a:lnTo>
                <a:lnTo>
                  <a:pt x="331187" y="331186"/>
                </a:lnTo>
                <a:lnTo>
                  <a:pt x="0" y="331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4195" y="2246465"/>
            <a:ext cx="8665210" cy="168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Dr. Kalam’s early life was shaped by values of unity, tolerance, and per</a:t>
            </a: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severance.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His upbringing laid the foundation for his achievements and philosophy in life.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676726" y="1424265"/>
            <a:ext cx="2408246" cy="2427040"/>
            <a:chOff x="0" y="0"/>
            <a:chExt cx="8065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21253" y="4016425"/>
            <a:ext cx="2408246" cy="2427040"/>
            <a:chOff x="0" y="0"/>
            <a:chExt cx="80650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5414" y="1037408"/>
            <a:ext cx="594262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1"/>
              </a:lnSpc>
            </a:pPr>
            <a:r>
              <a:rPr lang="en-US" sz="53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Chapter Two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036728" y="1424265"/>
            <a:ext cx="331187" cy="331187"/>
          </a:xfrm>
          <a:custGeom>
            <a:avLst/>
            <a:gdLst/>
            <a:ahLst/>
            <a:cxnLst/>
            <a:rect r="r" b="b" t="t" l="l"/>
            <a:pathLst>
              <a:path h="331187" w="331187">
                <a:moveTo>
                  <a:pt x="0" y="0"/>
                </a:moveTo>
                <a:lnTo>
                  <a:pt x="331187" y="0"/>
                </a:lnTo>
                <a:lnTo>
                  <a:pt x="331187" y="331186"/>
                </a:lnTo>
                <a:lnTo>
                  <a:pt x="0" y="331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4195" y="2246465"/>
            <a:ext cx="8665210" cy="37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Mr. Iyadurai Solomon, Dr. Kalam's teacher, shaped his character and dreams by stressing desire, belief, and exp</a:t>
            </a: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ectation.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His guidance helped Kalam overcome humble beginnings with confidence.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Mr. Solomon encouraged Kalam's fascination with flight, leading him to fly first from Rameswaram.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He taught Kalam that faith and determination can change destiny.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676726" y="1424265"/>
            <a:ext cx="2408246" cy="2427040"/>
            <a:chOff x="0" y="0"/>
            <a:chExt cx="8065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21253" y="4016425"/>
            <a:ext cx="2408246" cy="2427040"/>
            <a:chOff x="0" y="0"/>
            <a:chExt cx="80650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5414" y="1037408"/>
            <a:ext cx="594262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1"/>
              </a:lnSpc>
            </a:pPr>
            <a:r>
              <a:rPr lang="en-US" sz="53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Chapter Two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036728" y="1424265"/>
            <a:ext cx="331187" cy="331187"/>
          </a:xfrm>
          <a:custGeom>
            <a:avLst/>
            <a:gdLst/>
            <a:ahLst/>
            <a:cxnLst/>
            <a:rect r="r" b="b" t="t" l="l"/>
            <a:pathLst>
              <a:path h="331187" w="331187">
                <a:moveTo>
                  <a:pt x="0" y="0"/>
                </a:moveTo>
                <a:lnTo>
                  <a:pt x="331187" y="0"/>
                </a:lnTo>
                <a:lnTo>
                  <a:pt x="331187" y="331186"/>
                </a:lnTo>
                <a:lnTo>
                  <a:pt x="0" y="331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4195" y="2246465"/>
            <a:ext cx="8665210" cy="41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Dr. Kalam pursued higher education at St. Joseph's College, Trichy.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He was not an outstanding student academically but had a pr</a:t>
            </a: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actical mindset that helped him succeed.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During visits home, he helped his elder brother, Mustafa Kamal at his provision store, gaining practical knowledge.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He fondly remembers Reverend Father T.N. Sequeira's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kindness and the friendships he made at the hostel.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676726" y="1424265"/>
            <a:ext cx="2408246" cy="2427040"/>
            <a:chOff x="0" y="0"/>
            <a:chExt cx="8065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21253" y="4016425"/>
            <a:ext cx="2408246" cy="2427040"/>
            <a:chOff x="0" y="0"/>
            <a:chExt cx="80650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5414" y="1037408"/>
            <a:ext cx="594262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1"/>
              </a:lnSpc>
            </a:pPr>
            <a:r>
              <a:rPr lang="en-US" sz="53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Chapter Two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036728" y="1424265"/>
            <a:ext cx="331187" cy="331187"/>
          </a:xfrm>
          <a:custGeom>
            <a:avLst/>
            <a:gdLst/>
            <a:ahLst/>
            <a:cxnLst/>
            <a:rect r="r" b="b" t="t" l="l"/>
            <a:pathLst>
              <a:path h="331187" w="331187">
                <a:moveTo>
                  <a:pt x="0" y="0"/>
                </a:moveTo>
                <a:lnTo>
                  <a:pt x="331187" y="0"/>
                </a:lnTo>
                <a:lnTo>
                  <a:pt x="331187" y="331186"/>
                </a:lnTo>
                <a:lnTo>
                  <a:pt x="0" y="331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4195" y="2246465"/>
            <a:ext cx="8665210" cy="461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Kalam pays tribute to his mathematics teachers, Professors Thothathri Iyengar and Suryanarayana Sastry.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Passion for English literature ---Tolstoy, Scott, and Hardy.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</a:t>
            </a: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ascination with subatomic physics is ignited by his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teachers, who introduced him to the concepts of half-life and radioactive decay.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He also mentions the financial struggles he faces and the sacrifices made by his family, particularly his sister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676726" y="1424265"/>
            <a:ext cx="2408246" cy="2427040"/>
            <a:chOff x="0" y="0"/>
            <a:chExt cx="8065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21253" y="4016425"/>
            <a:ext cx="2408246" cy="2427040"/>
            <a:chOff x="0" y="0"/>
            <a:chExt cx="80650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14695" y="424230"/>
            <a:ext cx="5188607" cy="6466741"/>
            <a:chOff x="0" y="0"/>
            <a:chExt cx="778152" cy="9698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8152" cy="969838"/>
            </a:xfrm>
            <a:custGeom>
              <a:avLst/>
              <a:gdLst/>
              <a:ahLst/>
              <a:cxnLst/>
              <a:rect r="r" b="b" t="t" l="l"/>
              <a:pathLst>
                <a:path h="969838" w="778152">
                  <a:moveTo>
                    <a:pt x="389076" y="0"/>
                  </a:moveTo>
                  <a:cubicBezTo>
                    <a:pt x="174195" y="0"/>
                    <a:pt x="0" y="217106"/>
                    <a:pt x="0" y="484919"/>
                  </a:cubicBezTo>
                  <a:cubicBezTo>
                    <a:pt x="0" y="752732"/>
                    <a:pt x="174195" y="969838"/>
                    <a:pt x="389076" y="969838"/>
                  </a:cubicBezTo>
                  <a:cubicBezTo>
                    <a:pt x="603957" y="969838"/>
                    <a:pt x="778152" y="752732"/>
                    <a:pt x="778152" y="484919"/>
                  </a:cubicBezTo>
                  <a:cubicBezTo>
                    <a:pt x="778152" y="217106"/>
                    <a:pt x="603957" y="0"/>
                    <a:pt x="389076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2952" y="43297"/>
              <a:ext cx="632249" cy="835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9751581">
            <a:off x="6888642" y="899051"/>
            <a:ext cx="2996210" cy="2751065"/>
          </a:xfrm>
          <a:custGeom>
            <a:avLst/>
            <a:gdLst/>
            <a:ahLst/>
            <a:cxnLst/>
            <a:rect r="r" b="b" t="t" l="l"/>
            <a:pathLst>
              <a:path h="2751065" w="2996210">
                <a:moveTo>
                  <a:pt x="0" y="0"/>
                </a:moveTo>
                <a:lnTo>
                  <a:pt x="2996210" y="0"/>
                </a:lnTo>
                <a:lnTo>
                  <a:pt x="2996210" y="2751065"/>
                </a:lnTo>
                <a:lnTo>
                  <a:pt x="0" y="27510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6379" y="3501288"/>
            <a:ext cx="1535209" cy="312624"/>
          </a:xfrm>
          <a:custGeom>
            <a:avLst/>
            <a:gdLst/>
            <a:ahLst/>
            <a:cxnLst/>
            <a:rect r="r" b="b" t="t" l="l"/>
            <a:pathLst>
              <a:path h="312624" w="1535209">
                <a:moveTo>
                  <a:pt x="0" y="0"/>
                </a:moveTo>
                <a:lnTo>
                  <a:pt x="1535210" y="0"/>
                </a:lnTo>
                <a:lnTo>
                  <a:pt x="1535210" y="312624"/>
                </a:lnTo>
                <a:lnTo>
                  <a:pt x="0" y="312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22080" y="5398865"/>
            <a:ext cx="878644" cy="178924"/>
          </a:xfrm>
          <a:custGeom>
            <a:avLst/>
            <a:gdLst/>
            <a:ahLst/>
            <a:cxnLst/>
            <a:rect r="r" b="b" t="t" l="l"/>
            <a:pathLst>
              <a:path h="178924" w="878644">
                <a:moveTo>
                  <a:pt x="0" y="0"/>
                </a:moveTo>
                <a:lnTo>
                  <a:pt x="878644" y="0"/>
                </a:lnTo>
                <a:lnTo>
                  <a:pt x="878644" y="178923"/>
                </a:lnTo>
                <a:lnTo>
                  <a:pt x="0" y="178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28382" y="1071286"/>
            <a:ext cx="6896837" cy="5172628"/>
          </a:xfrm>
          <a:custGeom>
            <a:avLst/>
            <a:gdLst/>
            <a:ahLst/>
            <a:cxnLst/>
            <a:rect r="r" b="b" t="t" l="l"/>
            <a:pathLst>
              <a:path h="5172628" w="6896837">
                <a:moveTo>
                  <a:pt x="0" y="0"/>
                </a:moveTo>
                <a:lnTo>
                  <a:pt x="6896836" y="0"/>
                </a:lnTo>
                <a:lnTo>
                  <a:pt x="6896836" y="5172628"/>
                </a:lnTo>
                <a:lnTo>
                  <a:pt x="0" y="51726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5414" y="1037408"/>
            <a:ext cx="594262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1"/>
              </a:lnSpc>
            </a:pPr>
            <a:r>
              <a:rPr lang="en-US" sz="53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Chapter Two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036728" y="1424265"/>
            <a:ext cx="331187" cy="331187"/>
          </a:xfrm>
          <a:custGeom>
            <a:avLst/>
            <a:gdLst/>
            <a:ahLst/>
            <a:cxnLst/>
            <a:rect r="r" b="b" t="t" l="l"/>
            <a:pathLst>
              <a:path h="331187" w="331187">
                <a:moveTo>
                  <a:pt x="0" y="0"/>
                </a:moveTo>
                <a:lnTo>
                  <a:pt x="331187" y="0"/>
                </a:lnTo>
                <a:lnTo>
                  <a:pt x="331187" y="331186"/>
                </a:lnTo>
                <a:lnTo>
                  <a:pt x="0" y="331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4195" y="2246465"/>
            <a:ext cx="8665210" cy="37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 MIT, Kalam --- inspired to pursue aeronautical engineering by the sight of decommissioned aircraft.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Prof. Sponder_--- technical aerodyn</a:t>
            </a: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amics and inspires him with practical experience and professionalism.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Prof. K.A.V. Pandalai ---- aero-structure design, making complex subjects easy to understand.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Prof. Narasingha Rao_--- theoretical aerodynamics, sparking Kalam's interest in mathematical physics.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676726" y="1424265"/>
            <a:ext cx="2408246" cy="2427040"/>
            <a:chOff x="0" y="0"/>
            <a:chExt cx="8065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21253" y="4016425"/>
            <a:ext cx="2408246" cy="2427040"/>
            <a:chOff x="0" y="0"/>
            <a:chExt cx="80650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5414" y="1037408"/>
            <a:ext cx="594262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1"/>
              </a:lnSpc>
            </a:pPr>
            <a:r>
              <a:rPr lang="en-US" sz="53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Chapter Two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036728" y="1424265"/>
            <a:ext cx="331187" cy="331187"/>
          </a:xfrm>
          <a:custGeom>
            <a:avLst/>
            <a:gdLst/>
            <a:ahLst/>
            <a:cxnLst/>
            <a:rect r="r" b="b" t="t" l="l"/>
            <a:pathLst>
              <a:path h="331187" w="331187">
                <a:moveTo>
                  <a:pt x="0" y="0"/>
                </a:moveTo>
                <a:lnTo>
                  <a:pt x="331187" y="0"/>
                </a:lnTo>
                <a:lnTo>
                  <a:pt x="331187" y="331186"/>
                </a:lnTo>
                <a:lnTo>
                  <a:pt x="0" y="331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4195" y="2246465"/>
            <a:ext cx="8665210" cy="335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Dr. Kalam -- training program at Hindustan  Aeronautics Limited (HAL) in Bangalore, gaining hands-on experience.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After completing h</a:t>
            </a: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 training, he had two job opportunities: one in the Air Force and the other at DID&amp;P, Ministry of Defense.</a:t>
            </a:r>
          </a:p>
          <a:p>
            <a:pPr algn="l" marL="515738" indent="-257869" lvl="1">
              <a:lnSpc>
                <a:spcPts val="3344"/>
              </a:lnSpc>
              <a:buFont typeface="Arial"/>
              <a:buChar char="•"/>
            </a:pPr>
            <a:r>
              <a:rPr lang="en-US" sz="23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He applied for both positions and received interview calls from both simultaneously.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676726" y="1424265"/>
            <a:ext cx="2408246" cy="2427040"/>
            <a:chOff x="0" y="0"/>
            <a:chExt cx="8065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21253" y="4016425"/>
            <a:ext cx="2408246" cy="2427040"/>
            <a:chOff x="0" y="0"/>
            <a:chExt cx="80650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5331255" y="1588212"/>
            <a:ext cx="3399045" cy="4526573"/>
          </a:xfrm>
          <a:custGeom>
            <a:avLst/>
            <a:gdLst/>
            <a:ahLst/>
            <a:cxnLst/>
            <a:rect r="r" b="b" t="t" l="l"/>
            <a:pathLst>
              <a:path h="4526573" w="3399045">
                <a:moveTo>
                  <a:pt x="3399045" y="0"/>
                </a:moveTo>
                <a:lnTo>
                  <a:pt x="0" y="0"/>
                </a:lnTo>
                <a:lnTo>
                  <a:pt x="0" y="4526573"/>
                </a:lnTo>
                <a:lnTo>
                  <a:pt x="3399045" y="4526573"/>
                </a:lnTo>
                <a:lnTo>
                  <a:pt x="33990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3300" y="943240"/>
            <a:ext cx="4017815" cy="2967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10"/>
              </a:lnSpc>
            </a:pPr>
            <a:r>
              <a:rPr lang="en-US" sz="8925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 You!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995484" y="5526948"/>
            <a:ext cx="2408246" cy="2427040"/>
            <a:chOff x="0" y="0"/>
            <a:chExt cx="806506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636217" y="-1213520"/>
            <a:ext cx="2408246" cy="2427040"/>
            <a:chOff x="0" y="0"/>
            <a:chExt cx="806506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06506" cy="812800"/>
            </a:xfrm>
            <a:custGeom>
              <a:avLst/>
              <a:gdLst/>
              <a:ahLst/>
              <a:cxnLst/>
              <a:rect r="r" b="b" t="t" l="l"/>
              <a:pathLst>
                <a:path h="812800" w="806506">
                  <a:moveTo>
                    <a:pt x="403253" y="0"/>
                  </a:moveTo>
                  <a:cubicBezTo>
                    <a:pt x="180543" y="0"/>
                    <a:pt x="0" y="181951"/>
                    <a:pt x="0" y="406400"/>
                  </a:cubicBezTo>
                  <a:cubicBezTo>
                    <a:pt x="0" y="630849"/>
                    <a:pt x="180543" y="812800"/>
                    <a:pt x="403253" y="812800"/>
                  </a:cubicBezTo>
                  <a:cubicBezTo>
                    <a:pt x="625964" y="812800"/>
                    <a:pt x="806506" y="630849"/>
                    <a:pt x="806506" y="406400"/>
                  </a:cubicBezTo>
                  <a:cubicBezTo>
                    <a:pt x="806506" y="181951"/>
                    <a:pt x="625964" y="0"/>
                    <a:pt x="403253" y="0"/>
                  </a:cubicBezTo>
                  <a:close/>
                </a:path>
              </a:pathLst>
            </a:custGeom>
            <a:solidFill>
              <a:srgbClr val="946C0A">
                <a:alpha val="8627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5610" y="28575"/>
              <a:ext cx="65528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4476266">
            <a:off x="7841419" y="447171"/>
            <a:ext cx="308131" cy="568698"/>
          </a:xfrm>
          <a:custGeom>
            <a:avLst/>
            <a:gdLst/>
            <a:ahLst/>
            <a:cxnLst/>
            <a:rect r="r" b="b" t="t" l="l"/>
            <a:pathLst>
              <a:path h="568698" w="308131">
                <a:moveTo>
                  <a:pt x="0" y="0"/>
                </a:moveTo>
                <a:lnTo>
                  <a:pt x="308131" y="0"/>
                </a:lnTo>
                <a:lnTo>
                  <a:pt x="308131" y="568698"/>
                </a:lnTo>
                <a:lnTo>
                  <a:pt x="0" y="568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4476266">
            <a:off x="5608744" y="5466625"/>
            <a:ext cx="308131" cy="568698"/>
          </a:xfrm>
          <a:custGeom>
            <a:avLst/>
            <a:gdLst/>
            <a:ahLst/>
            <a:cxnLst/>
            <a:rect r="r" b="b" t="t" l="l"/>
            <a:pathLst>
              <a:path h="568698" w="308131">
                <a:moveTo>
                  <a:pt x="0" y="0"/>
                </a:moveTo>
                <a:lnTo>
                  <a:pt x="308131" y="0"/>
                </a:lnTo>
                <a:lnTo>
                  <a:pt x="308131" y="568698"/>
                </a:lnTo>
                <a:lnTo>
                  <a:pt x="0" y="568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DAHNlcSI2aM</dc:identifier>
  <dcterms:modified xsi:type="dcterms:W3CDTF">2011-08-01T06:04:30Z</dcterms:modified>
  <cp:revision>1</cp:revision>
  <dc:title>Wings of Fire: An Autobiography by A.P.J. Abdul Kalam</dc:title>
</cp:coreProperties>
</file>